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9312-5C13-6A57-70AB-B4267D06C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28DDF-5011-FE1A-6F26-5F6EB85A3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D809F-A491-7F1F-BE39-DFF924FD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3649-078B-DEE8-8CF6-777A344D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39DD5-EA23-AA2F-44B3-935BE9F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4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D0D9-6D21-9B83-021B-4769F0A5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D4EE-2F89-291E-32A1-A8A51DA0D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B4029-67DA-C39B-CA51-7764CE64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EA7B-B501-E3AF-AEF0-6CA938E4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A9C26-2532-D40A-69B4-FC190117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32A2-30D8-2E4F-0526-12A740D3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EF330-7F80-8AD0-063F-9597B8F2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747B1-E000-3C10-1DEE-EE0FCD2E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8B48-2819-8A7A-BCCF-556E33C7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F4B92-5E98-FB5E-4956-57074E71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8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0F3C-195B-38AD-3E04-175EF769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FB54-E75B-C4F9-AB21-F0EE00CC2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ECFC9-C76B-69F0-44C6-8629AC7BD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FA790-1C95-5EBF-C40F-AE0AC845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622FA-1B29-9413-A8A7-5B264367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8B9B9-B8AC-FA8A-9B74-238620E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2ACA-53AC-41FA-6FD6-5B199064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F57E0-0580-B58D-F739-498600F47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CE9FC-1001-6784-2A32-DBC815704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BF1D2-3F6D-57ED-D1AE-D08E6DF60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B16F0-CF6A-D590-0A1B-C2075C121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CDCFB-C90D-BE8E-F5F8-46F17DC8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427FB-C8BB-A052-A625-01581748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E72E-EEFE-26D0-C32B-4605DDF5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1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F192-BF31-324C-AA3E-8F8D19C9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FDB5D-87A7-AE7D-6D12-9CAFF7E61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CBB38-EF8A-445A-038B-E7A777CE4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4AA88-E622-35EB-1E2C-1F8DA31F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11777-4782-0F2E-F003-C2E57100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332E3-5681-ABBB-1867-EA1E3010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1068-0BED-B0CA-3470-6C70D6B7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5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7B2A-2492-5F52-8749-9FA43CE7D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8659-A418-EDA2-FD62-82A359CD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209CB-D30C-59FE-7D29-BCE82B55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3530A-D5F2-7545-4E8E-E559C914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E908-2C22-8398-320D-60ED3665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CD7C1-CF5A-04AB-4911-BBDD433C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2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962A-FA26-2D8D-AA79-000BEF24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EC116-0C81-C04C-8368-57C523EAD0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98BE1-5738-0247-49F4-B6FBA8FA0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CAADF-71BA-E686-B4B8-F061515E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3A329-AEB2-B903-FF77-17C80D84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F3B53-31C9-1BEA-1380-9477599D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3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969C-7656-2CC9-1F32-0996FCAA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78DFF-68AE-E355-5D42-A247D5DA8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1DEC-A798-039F-D146-71AA9D01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2687C-C718-A40C-8980-4002625F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329CB-E9CD-25C8-8B88-B5F8EE5E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6194EB-B83D-5D4D-7E28-362007B48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1E6F4-AE29-F85B-B007-996CF4000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24F9-E489-289F-D4EC-74D663F2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F294E-545E-F30C-3CF1-1133CBE0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E71F-6D7A-3C20-E4E9-0CC9189D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0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64AE3-75A7-C6A1-7BA2-313A2539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127E9-6F31-2BE3-341F-22F27BCC7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C398-618C-486A-32BC-FDBD7075F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CC1A8-CD15-4548-8D5A-264309F354B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6D7D-C138-C1C1-29A2-C72A8BF2D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08CA3-469B-47DA-8E4F-3C2FED3AE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35929-0631-4F32-8869-8082D3553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5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3BFB-E824-7285-B9DC-F6C364DB8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9950"/>
            <a:ext cx="9144000" cy="940499"/>
          </a:xfrm>
        </p:spPr>
        <p:txBody>
          <a:bodyPr/>
          <a:lstStyle/>
          <a:p>
            <a:r>
              <a:rPr lang="en-US" dirty="0"/>
              <a:t>Raytracing Workshop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3172D-D59F-C693-C896-85793FA9C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" t="2369" r="2165" b="2237"/>
          <a:stretch>
            <a:fillRect/>
          </a:stretch>
        </p:blipFill>
        <p:spPr>
          <a:xfrm>
            <a:off x="4376737" y="2984658"/>
            <a:ext cx="3438525" cy="343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8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7E6F-712E-0969-690D-699EB5A8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F164-FB1E-CD2D-66D4-6B08539FD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951"/>
          </a:xfrm>
        </p:spPr>
        <p:txBody>
          <a:bodyPr/>
          <a:lstStyle/>
          <a:p>
            <a:r>
              <a:rPr lang="en-US" dirty="0"/>
              <a:t>How do we render a 3d scene to a 2d image?</a:t>
            </a:r>
          </a:p>
        </p:txBody>
      </p:sp>
      <p:pic>
        <p:nvPicPr>
          <p:cNvPr id="4" name="Picture 3" descr="An Overview of the Rasterization Algorithm">
            <a:extLst>
              <a:ext uri="{FF2B5EF4-FFF2-40B4-BE49-F238E27FC236}">
                <a16:creationId xmlns:a16="http://schemas.microsoft.com/office/drawing/2014/main" id="{6F0AEC24-5B49-224B-B96E-AB8988FA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3"/>
          <a:stretch>
            <a:fillRect/>
          </a:stretch>
        </p:blipFill>
        <p:spPr>
          <a:xfrm>
            <a:off x="738378" y="3429000"/>
            <a:ext cx="2286000" cy="2708207"/>
          </a:xfrm>
          <a:prstGeom prst="rect">
            <a:avLst/>
          </a:prstGeom>
        </p:spPr>
      </p:pic>
      <p:pic>
        <p:nvPicPr>
          <p:cNvPr id="5" name="Picture 4" descr="Ray tracing in Parallel | ScalaBlitz">
            <a:extLst>
              <a:ext uri="{FF2B5EF4-FFF2-40B4-BE49-F238E27FC236}">
                <a16:creationId xmlns:a16="http://schemas.microsoft.com/office/drawing/2014/main" id="{FCD95596-9771-E309-16D7-224000EF8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284" y="3429000"/>
            <a:ext cx="2872338" cy="2860167"/>
          </a:xfrm>
          <a:prstGeom prst="rect">
            <a:avLst/>
          </a:prstGeom>
        </p:spPr>
      </p:pic>
      <p:pic>
        <p:nvPicPr>
          <p:cNvPr id="6" name="Picture 5" descr="Raymarching Distance Fields: Concepts and Implementation in Unity">
            <a:extLst>
              <a:ext uri="{FF2B5EF4-FFF2-40B4-BE49-F238E27FC236}">
                <a16:creationId xmlns:a16="http://schemas.microsoft.com/office/drawing/2014/main" id="{B544E79F-A2DF-20DB-7C8C-24D3E63EC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821" y="3429000"/>
            <a:ext cx="4714019" cy="2708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C5815B-5811-3C54-13EB-EF20DEF7F9F5}"/>
              </a:ext>
            </a:extLst>
          </p:cNvPr>
          <p:cNvSpPr txBox="1"/>
          <p:nvPr/>
        </p:nvSpPr>
        <p:spPr>
          <a:xfrm>
            <a:off x="1135597" y="2990088"/>
            <a:ext cx="149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Rasterization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C1512-56EA-BF8B-DF21-79E1BACCC3EA}"/>
              </a:ext>
            </a:extLst>
          </p:cNvPr>
          <p:cNvSpPr txBox="1"/>
          <p:nvPr/>
        </p:nvSpPr>
        <p:spPr>
          <a:xfrm>
            <a:off x="5042269" y="2990088"/>
            <a:ext cx="152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Ray Marching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BA4A57-BEA5-118F-D6E1-BFA209E280FA}"/>
              </a:ext>
            </a:extLst>
          </p:cNvPr>
          <p:cNvSpPr txBox="1"/>
          <p:nvPr/>
        </p:nvSpPr>
        <p:spPr>
          <a:xfrm>
            <a:off x="9399014" y="2990088"/>
            <a:ext cx="12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Raytracing</a:t>
            </a:r>
          </a:p>
        </p:txBody>
      </p:sp>
    </p:spTree>
    <p:extLst>
      <p:ext uri="{BB962C8B-B14F-4D97-AF65-F5344CB8AC3E}">
        <p14:creationId xmlns:p14="http://schemas.microsoft.com/office/powerpoint/2010/main" val="182374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A0C5-1CDD-3872-F0FE-1C074CF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simulate light?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7B966-E266-5141-8B6C-FEABE0F49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Treat individual photons as a ray</a:t>
            </a:r>
          </a:p>
          <a:p>
            <a:r>
              <a:rPr lang="en-US" dirty="0"/>
              <a:t>Rays come from light sources with an intensity and a color</a:t>
            </a:r>
          </a:p>
          <a:p>
            <a:r>
              <a:rPr lang="en-US" dirty="0"/>
              <a:t>Rays bounce around the scene and “collect” color</a:t>
            </a:r>
          </a:p>
          <a:p>
            <a:r>
              <a:rPr lang="en-US" dirty="0"/>
              <a:t>Rays hit the camera sensor</a:t>
            </a:r>
          </a:p>
          <a:p>
            <a:r>
              <a:rPr lang="en-US" dirty="0"/>
              <a:t>Realistic, but very slow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47D8A-6774-8D81-B2C5-D88240578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3309282"/>
            <a:ext cx="4886325" cy="318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0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D0DA-94B8-C02F-1C90-B8970590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rays?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CFEBB-805E-C966-8A50-124ECEDF2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an origin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dirty="0"/>
                  <a:t> and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Rays start at the origin and extend infinitely in their direction</a:t>
                </a:r>
              </a:p>
              <a:p>
                <a:r>
                  <a:rPr lang="en-US" dirty="0"/>
                  <a:t>A time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gives a position along the ray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CFEBB-805E-C966-8A50-124ECEDF2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75E069C-267F-DDA8-F6A0-DD6CC07F1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531" y="3699941"/>
            <a:ext cx="4217430" cy="168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5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1B4D-542F-1A08-DDBC-C167D9E3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faster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D7FC-C88C-3D64-0E93-AA5A5123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Multiplying RGB components approximates “collecting” light</a:t>
            </a:r>
          </a:p>
          <a:p>
            <a:r>
              <a:rPr lang="en-US" dirty="0"/>
              <a:t>Multiplication is communitive</a:t>
            </a:r>
          </a:p>
          <a:p>
            <a:r>
              <a:rPr lang="en-US" dirty="0"/>
              <a:t>Bounce the rays in reverse</a:t>
            </a:r>
          </a:p>
        </p:txBody>
      </p:sp>
      <p:pic>
        <p:nvPicPr>
          <p:cNvPr id="4" name="Picture 3" descr="Old Movie Camera Clip Art - Old Movie Camera Image">
            <a:extLst>
              <a:ext uri="{FF2B5EF4-FFF2-40B4-BE49-F238E27FC236}">
                <a16:creationId xmlns:a16="http://schemas.microsoft.com/office/drawing/2014/main" id="{92280138-BA95-0247-54CA-91A3C36002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92"/>
          <a:stretch>
            <a:fillRect/>
          </a:stretch>
        </p:blipFill>
        <p:spPr>
          <a:xfrm flipH="1">
            <a:off x="361155" y="3598481"/>
            <a:ext cx="1948870" cy="1746504"/>
          </a:xfrm>
          <a:prstGeom prst="rect">
            <a:avLst/>
          </a:prstGeom>
        </p:spPr>
      </p:pic>
      <p:sp>
        <p:nvSpPr>
          <p:cNvPr id="5" name="Cube 4">
            <a:extLst>
              <a:ext uri="{FF2B5EF4-FFF2-40B4-BE49-F238E27FC236}">
                <a16:creationId xmlns:a16="http://schemas.microsoft.com/office/drawing/2014/main" id="{8D2A4C59-7B2D-0A62-7CA2-57071A297948}"/>
              </a:ext>
            </a:extLst>
          </p:cNvPr>
          <p:cNvSpPr/>
          <p:nvPr/>
        </p:nvSpPr>
        <p:spPr>
          <a:xfrm>
            <a:off x="5132834" y="5440680"/>
            <a:ext cx="1225296" cy="1225296"/>
          </a:xfrm>
          <a:prstGeom prst="cube">
            <a:avLst>
              <a:gd name="adj" fmla="val 227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.08</a:t>
            </a:r>
          </a:p>
          <a:p>
            <a:pPr algn="ctr"/>
            <a:r>
              <a:rPr lang="en-US" dirty="0"/>
              <a:t>.38</a:t>
            </a:r>
          </a:p>
          <a:p>
            <a:pPr algn="ctr"/>
            <a:r>
              <a:rPr lang="en-US" dirty="0"/>
              <a:t>.51</a:t>
            </a:r>
          </a:p>
        </p:txBody>
      </p:sp>
      <p:pic>
        <p:nvPicPr>
          <p:cNvPr id="6" name="Picture 5" descr="Light Bulb clip art - vector clip art online, royalty free ...">
            <a:extLst>
              <a:ext uri="{FF2B5EF4-FFF2-40B4-BE49-F238E27FC236}">
                <a16:creationId xmlns:a16="http://schemas.microsoft.com/office/drawing/2014/main" id="{B591A60E-B1A8-3477-0A6F-7A6B3270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400" y="3255264"/>
            <a:ext cx="1230239" cy="18674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9E0BA1-EDE8-90E5-1E7A-9DAB0C6E03A8}"/>
              </a:ext>
            </a:extLst>
          </p:cNvPr>
          <p:cNvCxnSpPr>
            <a:cxnSpLocks/>
          </p:cNvCxnSpPr>
          <p:nvPr/>
        </p:nvCxnSpPr>
        <p:spPr>
          <a:xfrm>
            <a:off x="2310025" y="4764024"/>
            <a:ext cx="3435457" cy="79552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BC1B5E3-D219-98EB-4FFA-A73AFF18A71F}"/>
              </a:ext>
            </a:extLst>
          </p:cNvPr>
          <p:cNvSpPr/>
          <p:nvPr/>
        </p:nvSpPr>
        <p:spPr>
          <a:xfrm>
            <a:off x="2404872" y="4350934"/>
            <a:ext cx="740664" cy="3456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1 1 1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624581-6757-C999-8D2D-7D7D03F022A0}"/>
              </a:ext>
            </a:extLst>
          </p:cNvPr>
          <p:cNvSpPr txBox="1"/>
          <p:nvPr/>
        </p:nvSpPr>
        <p:spPr>
          <a:xfrm>
            <a:off x="9494828" y="363196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2, 2, 0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B9247B-5835-3975-ED87-B28D7D87EF05}"/>
              </a:ext>
            </a:extLst>
          </p:cNvPr>
          <p:cNvCxnSpPr>
            <a:cxnSpLocks/>
          </p:cNvCxnSpPr>
          <p:nvPr/>
        </p:nvCxnSpPr>
        <p:spPr>
          <a:xfrm flipV="1">
            <a:off x="5745482" y="4096512"/>
            <a:ext cx="3599686" cy="1463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27AEB5D-2506-A45E-91CE-B7E7CE647786}"/>
              </a:ext>
            </a:extLst>
          </p:cNvPr>
          <p:cNvSpPr/>
          <p:nvPr/>
        </p:nvSpPr>
        <p:spPr>
          <a:xfrm>
            <a:off x="6654907" y="5230761"/>
            <a:ext cx="1300373" cy="345622"/>
          </a:xfrm>
          <a:prstGeom prst="rect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.08  .38  .51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2569D0-C056-8B73-BFD1-989832D3C78F}"/>
              </a:ext>
            </a:extLst>
          </p:cNvPr>
          <p:cNvSpPr/>
          <p:nvPr/>
        </p:nvSpPr>
        <p:spPr>
          <a:xfrm>
            <a:off x="8692365" y="2880416"/>
            <a:ext cx="1154069" cy="345622"/>
          </a:xfrm>
          <a:prstGeom prst="rect">
            <a:avLst/>
          </a:prstGeom>
          <a:solidFill>
            <a:srgbClr val="2A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.16  .75  0</a:t>
            </a:r>
          </a:p>
        </p:txBody>
      </p:sp>
    </p:spTree>
    <p:extLst>
      <p:ext uri="{BB962C8B-B14F-4D97-AF65-F5344CB8AC3E}">
        <p14:creationId xmlns:p14="http://schemas.microsoft.com/office/powerpoint/2010/main" val="36040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3444-BF2B-A540-4F12-8FAA2428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rays bounce?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93A5F-6C50-D465-02AA-78498F1AE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ray marching, rays do not “move forward”</a:t>
            </a:r>
          </a:p>
          <a:p>
            <a:r>
              <a:rPr lang="en-US" dirty="0"/>
              <a:t>We find the intersection points analytically</a:t>
            </a:r>
          </a:p>
          <a:p>
            <a:r>
              <a:rPr lang="en-US" dirty="0"/>
              <a:t>Different formula for each shape in the scene</a:t>
            </a:r>
          </a:p>
          <a:p>
            <a:r>
              <a:rPr lang="en-US" dirty="0"/>
              <a:t>Produces the time and </a:t>
            </a:r>
            <a:r>
              <a:rPr lang="en-US" dirty="0">
                <a:solidFill>
                  <a:srgbClr val="FF0000"/>
                </a:solidFill>
              </a:rPr>
              <a:t>point</a:t>
            </a:r>
            <a:r>
              <a:rPr lang="en-US" dirty="0"/>
              <a:t> of intersection</a:t>
            </a:r>
          </a:p>
          <a:p>
            <a:r>
              <a:rPr lang="en-US" dirty="0"/>
              <a:t>Produces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normal vector </a:t>
            </a:r>
            <a:r>
              <a:rPr lang="en-US" dirty="0"/>
              <a:t>at that </a:t>
            </a:r>
            <a:r>
              <a:rPr lang="en-US" dirty="0">
                <a:solidFill>
                  <a:srgbClr val="FF0000"/>
                </a:solidFill>
              </a:rPr>
              <a:t>point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6422E2-2E99-251E-01E7-C0B25E76F05F}"/>
              </a:ext>
            </a:extLst>
          </p:cNvPr>
          <p:cNvSpPr/>
          <p:nvPr/>
        </p:nvSpPr>
        <p:spPr>
          <a:xfrm>
            <a:off x="7053072" y="4867148"/>
            <a:ext cx="1444752" cy="14447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591571-C9F8-5578-F3B9-671E178FFAD4}"/>
              </a:ext>
            </a:extLst>
          </p:cNvPr>
          <p:cNvCxnSpPr>
            <a:endCxn id="4" idx="1"/>
          </p:cNvCxnSpPr>
          <p:nvPr/>
        </p:nvCxnSpPr>
        <p:spPr>
          <a:xfrm flipV="1">
            <a:off x="4443984" y="5078727"/>
            <a:ext cx="2820667" cy="343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2C9B6-EE64-E861-D7F9-D6D031B82748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976872" y="4782312"/>
            <a:ext cx="287779" cy="29641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193D491-85CA-F901-3D46-1BEE6CB06A87}"/>
              </a:ext>
            </a:extLst>
          </p:cNvPr>
          <p:cNvSpPr/>
          <p:nvPr/>
        </p:nvSpPr>
        <p:spPr>
          <a:xfrm>
            <a:off x="7218674" y="5023863"/>
            <a:ext cx="108204" cy="1082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8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BCF2-B221-B02B-594D-8E5C3893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– Sphere intersection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C383C-0DF0-4681-7B7C-88F1A9433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todo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0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FF5C-3027-9A43-FC65-C0057771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scattering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B0D2-5C5E-6727-CBFD-96A3E7FB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 ray hits a surface, we need to scatter it</a:t>
            </a:r>
          </a:p>
          <a:p>
            <a:r>
              <a:rPr lang="en-US" dirty="0"/>
              <a:t>Influences the material properties of the surface</a:t>
            </a:r>
          </a:p>
          <a:p>
            <a:r>
              <a:rPr lang="en-US" dirty="0"/>
              <a:t>Diffuse scattering</a:t>
            </a:r>
          </a:p>
          <a:p>
            <a:r>
              <a:rPr lang="en-US" dirty="0"/>
              <a:t>Lambertian scattering</a:t>
            </a:r>
          </a:p>
          <a:p>
            <a:r>
              <a:rPr lang="en-US" dirty="0"/>
              <a:t>Reflective scattering</a:t>
            </a:r>
          </a:p>
          <a:p>
            <a:r>
              <a:rPr lang="en-US" dirty="0"/>
              <a:t>Dielectric scattering (next week)</a:t>
            </a:r>
          </a:p>
        </p:txBody>
      </p:sp>
    </p:spTree>
    <p:extLst>
      <p:ext uri="{BB962C8B-B14F-4D97-AF65-F5344CB8AC3E}">
        <p14:creationId xmlns:p14="http://schemas.microsoft.com/office/powerpoint/2010/main" val="227796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4EF4-7B78-6382-B587-6656D5DF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Diffuse scattering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49F7-BAD9-E8A4-0AB3-C5F0DD97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Mimics rough, non-reflective surfaces</a:t>
            </a:r>
          </a:p>
          <a:p>
            <a:r>
              <a:rPr lang="en-US" dirty="0"/>
              <a:t>A ray is bounced in a random direction in the same hemisphere as the normal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D7C44-5AB3-6ECC-81D2-4407FB536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3244789"/>
            <a:ext cx="4352544" cy="3248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040E98-4AC4-6124-E6A2-F230E0ACC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596" y="3447288"/>
            <a:ext cx="3810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2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75D9-5D5A-63F0-6384-FB38310B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Lambertian scattering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09E8-C514-51E0-E40C-64CAA9B6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diffuse scattering</a:t>
            </a:r>
          </a:p>
          <a:p>
            <a:r>
              <a:rPr lang="en-US" dirty="0"/>
              <a:t>Rays are more likely to scatter near the normal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C60E3-AE9F-6D0E-8C7A-8714F39E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555932"/>
            <a:ext cx="2587763" cy="2755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7BA82-4259-55CB-A689-DBD4A5E6E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719512"/>
            <a:ext cx="3810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0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D515-79A7-F2AE-5A87-4289D5D0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Reflective scattering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F31F-3DB4-17EE-1C39-0C978088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mimic metals, mirrors, and other reflective surfaces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E979B-9688-0157-E7F3-C9F34139B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52738"/>
            <a:ext cx="3448050" cy="2633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C0A1CE-DE01-EDEB-A54B-6F5F83FF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195637"/>
            <a:ext cx="3810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0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279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Raytracing Workshop</vt:lpstr>
      <vt:lpstr>Motivation</vt:lpstr>
      <vt:lpstr>How do we simulate light?</vt:lpstr>
      <vt:lpstr>How do we represent rays?</vt:lpstr>
      <vt:lpstr>Make it faster</vt:lpstr>
      <vt:lpstr>How do rays bounce?</vt:lpstr>
      <vt:lpstr>Ray – Sphere intersection</vt:lpstr>
      <vt:lpstr>Ray scattering</vt:lpstr>
      <vt:lpstr>Diffuse scattering</vt:lpstr>
      <vt:lpstr>Lambertian scattering</vt:lpstr>
      <vt:lpstr>Reflective scattering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Callender</dc:creator>
  <cp:lastModifiedBy>David Callender</cp:lastModifiedBy>
  <cp:revision>2</cp:revision>
  <dcterms:created xsi:type="dcterms:W3CDTF">2026-10-17T23:10:09Z</dcterms:created>
  <dcterms:modified xsi:type="dcterms:W3CDTF">2026-10-20T20:41:33Z</dcterms:modified>
</cp:coreProperties>
</file>